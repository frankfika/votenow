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5113" y="1339900"/>
            <a:ext cx="2613773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VoteNow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98028" y="2298650"/>
            <a:ext cx="65479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AI-Powered Governance Layer for Web3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32622" y="3362176"/>
            <a:ext cx="34787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AI Deep Dive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DAO Governance is Broken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98377"/>
            <a:ext cx="3873550" cy="2787253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552277"/>
            <a:ext cx="34330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1851" y="1980902"/>
            <a:ext cx="343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 DAOs across 50+ chains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1851" y="2336453"/>
            <a:ext cx="343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juggle Snapshot, Tally, Discourse, Discord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1851" y="2692003"/>
            <a:ext cx="34330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Participation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1851" y="3120628"/>
            <a:ext cx="343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1851" y="3476179"/>
            <a:ext cx="343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voter turnout despite $25B+ treasuries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500" y="1298377"/>
            <a:ext cx="3873550" cy="2787253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16401" y="1552277"/>
            <a:ext cx="34330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Overload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16401" y="1980902"/>
            <a:ext cx="343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Proposals are 1000s of words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16401" y="2336453"/>
            <a:ext cx="343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jargon, complex tokenomics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16401" y="2692003"/>
            <a:ext cx="34330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Incentives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16401" y="3120628"/>
            <a:ext cx="343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is volunteer work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16401" y="3476179"/>
            <a:ext cx="343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immediate reward for participation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26952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Governance Aggregator + AI + Incentives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644402"/>
            <a:ext cx="2540050" cy="29590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668214"/>
            <a:ext cx="2540050" cy="0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851" y="1945928"/>
            <a:ext cx="207289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Multi-Chain Aggregation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1851" y="2574578"/>
            <a:ext cx="2032248" cy="147786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DAOs across 4 chains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dashboard for all proposals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sync via Snapshot API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voting interface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01901" y="1644402"/>
            <a:ext cx="2540198" cy="29590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01901" y="1668214"/>
            <a:ext cx="2540198" cy="0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5802" y="1945928"/>
            <a:ext cx="207304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Governance Agent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55802" y="2574578"/>
            <a:ext cx="2032397" cy="167342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R1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powers analysis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recommendations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 &amp; security checks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Q&amp;A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0" y="1644402"/>
            <a:ext cx="2540050" cy="29590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96000" y="1668214"/>
            <a:ext cx="2540050" cy="0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9901" y="1945928"/>
            <a:ext cx="20728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Gamified Rewards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49901" y="2336453"/>
            <a:ext cx="2032248" cy="108674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40-100 points per vote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 for USDC, NFTs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Leaderboards &amp; streaks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$VOTE token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Market: Why Now?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71277"/>
            <a:ext cx="1889075" cy="1685627"/>
          </a:xfrm>
          <a:prstGeom prst="roundRect">
            <a:avLst>
              <a:gd name="adj" fmla="val 60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3370" y="1768078"/>
            <a:ext cx="153823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200"/>
              </a:spcBef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15M+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3370" y="2374404"/>
            <a:ext cx="15382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DAO Token Holders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87526" y="1171277"/>
            <a:ext cx="1889224" cy="1685627"/>
          </a:xfrm>
          <a:prstGeom prst="roundRect">
            <a:avLst>
              <a:gd name="adj" fmla="val 60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62944" y="1768078"/>
            <a:ext cx="153838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200"/>
              </a:spcBef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62944" y="2374404"/>
            <a:ext cx="15383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Participation 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7250" y="1171277"/>
            <a:ext cx="1889075" cy="1685627"/>
          </a:xfrm>
          <a:prstGeom prst="roundRect">
            <a:avLst>
              <a:gd name="adj" fmla="val 60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42669" y="1768078"/>
            <a:ext cx="153823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200"/>
              </a:spcBef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$25B+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42669" y="2374404"/>
            <a:ext cx="15382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 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46825" y="1171277"/>
            <a:ext cx="1889224" cy="1685627"/>
          </a:xfrm>
          <a:prstGeom prst="roundRect">
            <a:avLst>
              <a:gd name="adj" fmla="val 60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22243" y="1768078"/>
            <a:ext cx="153838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200"/>
              </a:spcBef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15,000+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922243" y="2374404"/>
            <a:ext cx="15383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DAOs Created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950" y="3047405"/>
            <a:ext cx="8128099" cy="1230362"/>
          </a:xfrm>
          <a:prstGeom prst="roundRect">
            <a:avLst>
              <a:gd name="adj" fmla="val 825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1851" y="3237905"/>
            <a:ext cx="77727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 Four Converging Trends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1851" y="3574405"/>
            <a:ext cx="17973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Matured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1851" y="3790206"/>
            <a:ext cx="179736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can finally understand complex governance proposals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14476" y="3574405"/>
            <a:ext cx="17975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Points Model Proven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14476" y="3790206"/>
            <a:ext cx="179751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Friend.tech, EigenLayer prove gamification drives engagement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7250" y="3574405"/>
            <a:ext cx="17973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Multi-Chain Era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7250" y="3790206"/>
            <a:ext cx="179736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need unified governance across 10+ chains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19875" y="3574405"/>
            <a:ext cx="17975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DAO Explosion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19875" y="3790206"/>
            <a:ext cx="179751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 growth in 2 years, but tools haven't kept up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Modern, Fast, AI-Native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19175"/>
            <a:ext cx="2582317" cy="360938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0350" y="1171575"/>
            <a:ext cx="2323067" cy="247650"/>
          </a:xfrm>
          <a:prstGeom prst="rect">
            <a:avLst/>
          </a:prstGeom>
          <a:noFill/>
          <a:ln/>
        </p:spPr>
        <p:txBody>
          <a:bodyPr wrap="square" lIns="0" tIns="0" rIns="0" bIns="762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0350" y="1546175"/>
            <a:ext cx="2323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Vite 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0350" y="1816001"/>
            <a:ext cx="23230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features, 50ms HMR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0350" y="2057251"/>
            <a:ext cx="2323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wagmi 2 + viem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0350" y="2327077"/>
            <a:ext cx="23230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TypeScript-native Web3 hooks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60350" y="2568327"/>
            <a:ext cx="2323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0350" y="2838152"/>
            <a:ext cx="23230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Utility-first responsive design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0350" y="3104852"/>
            <a:ext cx="2323067" cy="247650"/>
          </a:xfrm>
          <a:prstGeom prst="rect">
            <a:avLst/>
          </a:prstGeom>
          <a:noFill/>
          <a:ln/>
        </p:spPr>
        <p:txBody>
          <a:bodyPr wrap="square" lIns="0" tIns="0" rIns="0" bIns="76200" rtlCol="0" anchor="t"/>
          <a:lstStyle/>
          <a:p>
            <a:pPr algn="l" indent="0" marL="0">
              <a:spcBef>
                <a:spcPts val="1200"/>
              </a:spcBef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0350" y="3479453"/>
            <a:ext cx="2323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 + TypeScript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0350" y="3749278"/>
            <a:ext cx="23230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5KB, edge-compatible, 3x faster than Express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60350" y="3990529"/>
            <a:ext cx="2323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Redis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0350" y="4260354"/>
            <a:ext cx="23230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data, cache, leaderboards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80767" y="1019175"/>
            <a:ext cx="2582466" cy="360938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33167" y="1171575"/>
            <a:ext cx="2323219" cy="247650"/>
          </a:xfrm>
          <a:prstGeom prst="rect">
            <a:avLst/>
          </a:prstGeom>
          <a:noFill/>
          <a:ln/>
        </p:spPr>
        <p:txBody>
          <a:bodyPr wrap="square" lIns="0" tIns="0" rIns="0" bIns="762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Web3 Infrastructure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33167" y="1546175"/>
            <a:ext cx="2323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GraphQL API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33167" y="1816001"/>
            <a:ext cx="2323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data, vote submission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33167" y="2057251"/>
            <a:ext cx="2323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EIP-712 Signatures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33167" y="2327077"/>
            <a:ext cx="2323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Off-chain voting, zero gas fees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33167" y="2568327"/>
            <a:ext cx="2323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Alchemy/Infura RPC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33167" y="2838152"/>
            <a:ext cx="2323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Multi-chain data queries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33167" y="3053953"/>
            <a:ext cx="2277666" cy="1247031"/>
          </a:xfrm>
          <a:prstGeom prst="roundRect">
            <a:avLst>
              <a:gd name="adj" fmla="val 6111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60118" y="3180904"/>
            <a:ext cx="2064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R1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Engine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60118" y="3387179"/>
            <a:ext cx="20642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32K context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MMLU 89.5%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tokens/sec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60118" y="3714601"/>
            <a:ext cx="20642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500"/>
              </a:spcBef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$0.27/M tokens</a:t>
            </a:r>
            <a:pPr algn="l" indent="0" marL="0">
              <a:lnSpc>
                <a:spcPts val="1040"/>
              </a:lnSpc>
              <a:spcBef>
                <a:spcPts val="500"/>
              </a:spcBef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20x cheaper than GPT-4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60118" y="4042023"/>
            <a:ext cx="206424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500"/>
              </a:spcBef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scale: $2,448/year vs $49,000/year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53733" y="1019175"/>
            <a:ext cx="2582317" cy="360938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06133" y="1171575"/>
            <a:ext cx="2323067" cy="247650"/>
          </a:xfrm>
          <a:prstGeom prst="rect">
            <a:avLst/>
          </a:prstGeom>
          <a:noFill/>
          <a:ln/>
        </p:spPr>
        <p:txBody>
          <a:bodyPr wrap="square" lIns="0" tIns="0" rIns="0" bIns="762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 Pipeline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06133" y="1546175"/>
            <a:ext cx="2323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Proposal Ingestion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06133" y="1816001"/>
            <a:ext cx="23230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full text from Snapshot API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06133" y="2057251"/>
            <a:ext cx="2323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Strategy Matching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06133" y="2327077"/>
            <a:ext cx="23230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against user risk profile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06133" y="2568327"/>
            <a:ext cx="2323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Risk Assessment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06133" y="2838152"/>
            <a:ext cx="23230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Low/Medium/High/Critical grading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06133" y="3079403"/>
            <a:ext cx="2323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Security Scan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06133" y="3349228"/>
            <a:ext cx="23230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verification, treasury impact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06133" y="3590479"/>
            <a:ext cx="2323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JSON Output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06133" y="3860304"/>
            <a:ext cx="23230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recommendation (3-5s)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Capabilities: Not Just Summaries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71277"/>
            <a:ext cx="1820466" cy="3268712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361777"/>
            <a:ext cx="14682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Personalized Strategy Matching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8450" y="1888778"/>
            <a:ext cx="1468255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user's token holdings and risk profile to give targeted recommendations.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8450" y="2701082"/>
            <a:ext cx="1439466" cy="1548408"/>
          </a:xfrm>
          <a:prstGeom prst="roundRect">
            <a:avLst>
              <a:gd name="adj" fmla="val 3529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9951" y="2802582"/>
            <a:ext cx="1261193" cy="124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hold significant ETH. This proposal increases staking rewards → 85% match with your Conservative Growth strategy"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82317" y="1171277"/>
            <a:ext cx="1905000" cy="3268712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72817" y="1361777"/>
            <a:ext cx="15544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Risk Assessment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72817" y="1888778"/>
            <a:ext cx="1554480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risk grading (Low/Medium/High/Critical) with technical justification.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72817" y="2523381"/>
            <a:ext cx="1524000" cy="1015305"/>
          </a:xfrm>
          <a:prstGeom prst="roundRect">
            <a:avLst>
              <a:gd name="adj" fmla="val 500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74318" y="2624882"/>
            <a:ext cx="1347418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"Risk: HIGH - Contract upgrade with unaudited code, $5M treasury impact"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41218" y="1171277"/>
            <a:ext cx="1820466" cy="3268712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31718" y="1361777"/>
            <a:ext cx="14682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Security Scanning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1718" y="1888778"/>
            <a:ext cx="1468255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checks for contract addresses, treasury impact, governance attacks.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1718" y="2701082"/>
            <a:ext cx="1439466" cy="1015305"/>
          </a:xfrm>
          <a:prstGeom prst="roundRect">
            <a:avLst>
              <a:gd name="adj" fmla="val 500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33218" y="2802582"/>
            <a:ext cx="1261193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"✓ Contract verified: Aave V3 Treasury | ⚠️ $2M token transfer requested"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5584" y="1171277"/>
            <a:ext cx="1820466" cy="3268712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06084" y="1361777"/>
            <a:ext cx="14682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Conversational Research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06084" y="1888778"/>
            <a:ext cx="1468255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ask follow-up questions about any proposal in natural language.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06084" y="2701082"/>
            <a:ext cx="1439466" cy="1472208"/>
          </a:xfrm>
          <a:prstGeom prst="roundRect">
            <a:avLst>
              <a:gd name="adj" fmla="val 3529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107585" y="2802582"/>
            <a:ext cx="126119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"How does this affect Aave?"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07585" y="3259485"/>
            <a:ext cx="1261193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"This increases reserve factor by 2%, boosting protocol revenue..."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Flywheel: The Moat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746" y="1171277"/>
            <a:ext cx="1396901" cy="622250"/>
          </a:xfrm>
          <a:prstGeom prst="roundRect">
            <a:avLst>
              <a:gd name="adj" fmla="val 163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5087" y="1323677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Users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5087" y="1526828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on platform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38598" y="1348978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94148" y="1171277"/>
            <a:ext cx="1396901" cy="622250"/>
          </a:xfrm>
          <a:prstGeom prst="roundRect">
            <a:avLst>
              <a:gd name="adj" fmla="val 163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174489" y="1323677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Votes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74489" y="1526828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data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17999" y="1348978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73550" y="1171277"/>
            <a:ext cx="1396901" cy="622250"/>
          </a:xfrm>
          <a:prstGeom prst="roundRect">
            <a:avLst>
              <a:gd name="adj" fmla="val 163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53891" y="1323677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53891" y="1526828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patterns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7401" y="1348978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52951" y="1171277"/>
            <a:ext cx="1396901" cy="622250"/>
          </a:xfrm>
          <a:prstGeom prst="roundRect">
            <a:avLst>
              <a:gd name="adj" fmla="val 163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33292" y="1323677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33292" y="1526828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predictions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276802" y="1348978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32353" y="1171277"/>
            <a:ext cx="1396901" cy="622250"/>
          </a:xfrm>
          <a:prstGeom prst="roundRect">
            <a:avLst>
              <a:gd name="adj" fmla="val 163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812694" y="1323677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Users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12694" y="1526828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repeats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4401" y="2047429"/>
            <a:ext cx="2624733" cy="853380"/>
          </a:xfrm>
          <a:prstGeom prst="roundRect">
            <a:avLst>
              <a:gd name="adj" fmla="val 11906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96801" y="2199829"/>
            <a:ext cx="23663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Data Barrier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6801" y="2428429"/>
            <a:ext cx="2366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analysis history creates dataset no competitor can replicate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59634" y="2047429"/>
            <a:ext cx="2624733" cy="853380"/>
          </a:xfrm>
          <a:prstGeom prst="roundRect">
            <a:avLst>
              <a:gd name="adj" fmla="val 11906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12034" y="2199829"/>
            <a:ext cx="23663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Profiles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12034" y="2428429"/>
            <a:ext cx="2366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Conservative/Balanced/Aggressive preferences improve recommendations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74866" y="2047429"/>
            <a:ext cx="2624733" cy="853380"/>
          </a:xfrm>
          <a:prstGeom prst="roundRect">
            <a:avLst>
              <a:gd name="adj" fmla="val 11906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27266" y="2199829"/>
            <a:ext cx="23663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DAO-Specific Models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27266" y="2428429"/>
            <a:ext cx="2366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DAO's governance patterns learned and optimized separately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101: Snapshot vs On-Chain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71277"/>
            <a:ext cx="8128099" cy="2075259"/>
          </a:xfrm>
          <a:prstGeom prst="roundRect">
            <a:avLst>
              <a:gd name="adj" fmla="val 48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71277"/>
            <a:ext cx="8128099" cy="355402"/>
          </a:xfrm>
          <a:prstGeom prst="rect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521916"/>
            <a:ext cx="8128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0350" y="1272778"/>
            <a:ext cx="2452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17218" y="1171277"/>
            <a:ext cx="2709416" cy="345877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69618" y="1272778"/>
            <a:ext cx="24527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(We Support)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26634" y="1171277"/>
            <a:ext cx="2709416" cy="345877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79034" y="1272778"/>
            <a:ext cx="24527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950" y="1867793"/>
            <a:ext cx="8128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350" y="1628180"/>
            <a:ext cx="2452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Proposal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17218" y="1526679"/>
            <a:ext cx="2709416" cy="336352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69618" y="1628180"/>
            <a:ext cx="245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data (title, desc)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26634" y="1526679"/>
            <a:ext cx="2709416" cy="336352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79034" y="1628180"/>
            <a:ext cx="245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7950" y="2213670"/>
            <a:ext cx="8128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350" y="1974056"/>
            <a:ext cx="2452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Cost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17218" y="1872555"/>
            <a:ext cx="2709416" cy="336352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69618" y="1974056"/>
            <a:ext cx="245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gas (free)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26634" y="1872555"/>
            <a:ext cx="2709416" cy="336352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79034" y="1974056"/>
            <a:ext cx="245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$5-50 gas/vote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7950" y="2559546"/>
            <a:ext cx="8128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350" y="2319933"/>
            <a:ext cx="2452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17218" y="2218432"/>
            <a:ext cx="2709416" cy="336352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69618" y="2319933"/>
            <a:ext cx="245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of DAOs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26634" y="2218432"/>
            <a:ext cx="2709416" cy="336352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79034" y="2319933"/>
            <a:ext cx="245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protocols only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7950" y="2905423"/>
            <a:ext cx="8128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350" y="2665809"/>
            <a:ext cx="2452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17218" y="2564309"/>
            <a:ext cx="2709416" cy="336352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369618" y="2665809"/>
            <a:ext cx="245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Uniswap, Arbitrum, ENS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26634" y="2564309"/>
            <a:ext cx="2709416" cy="336352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079034" y="2665809"/>
            <a:ext cx="245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MakerDAO, Compound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0350" y="3011686"/>
            <a:ext cx="2452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17218" y="2910185"/>
            <a:ext cx="2709416" cy="336352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369618" y="3011686"/>
            <a:ext cx="245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Multi-sig manual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26634" y="2910185"/>
            <a:ext cx="2709416" cy="336352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079034" y="3011686"/>
            <a:ext cx="245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auto-execute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7950" y="3398937"/>
            <a:ext cx="8128099" cy="693390"/>
          </a:xfrm>
          <a:prstGeom prst="roundRect">
            <a:avLst>
              <a:gd name="adj" fmla="val 10989"/>
            </a:avLst>
          </a:prstGeom>
          <a:solidFill>
            <a:srgbClr val="E7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31763" y="3398937"/>
            <a:ext cx="0" cy="693390"/>
          </a:xfrm>
          <a:prstGeom prst="line">
            <a:avLst/>
          </a:prstGeom>
          <a:noFill/>
          <a:ln w="47625">
            <a:solidFill>
              <a:srgbClr val="0F34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6075" y="3551337"/>
            <a:ext cx="78534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Snapshot First?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6075" y="3779937"/>
            <a:ext cx="78534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Large market (80% share) 2. Better UX (free voting) 3. Mature tech 4. Roadmap: Phase 2 add on-chain reading, Phase 3 full on-chain voting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Flow: 6-Step Voting Experience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71277"/>
            <a:ext cx="1016050" cy="11135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6300" y="132367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79922" y="139184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1321" y="1717328"/>
            <a:ext cx="8293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1321" y="1901428"/>
            <a:ext cx="82930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MetaMask, WalletConnect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625501" y="1608981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30301" y="1171277"/>
            <a:ext cx="1016198" cy="1113532"/>
          </a:xfrm>
          <a:prstGeom prst="roundRect">
            <a:avLst>
              <a:gd name="adj" fmla="val 99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98650" y="132367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402272" y="139184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23670" y="1717328"/>
            <a:ext cx="829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23670" y="1901428"/>
            <a:ext cx="82946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score, recommendation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048000" y="1608981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52800" y="1171277"/>
            <a:ext cx="1016050" cy="11135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21150" y="132367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24771" y="139184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46170" y="1717328"/>
            <a:ext cx="8293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46170" y="1901428"/>
            <a:ext cx="82930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/ Against / Abstain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470350" y="1608981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75150" y="1229023"/>
            <a:ext cx="1016198" cy="998041"/>
          </a:xfrm>
          <a:prstGeom prst="roundRect">
            <a:avLst>
              <a:gd name="adj" fmla="val 101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143500" y="138142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47122" y="1449586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68519" y="1775073"/>
            <a:ext cx="829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8519" y="1959173"/>
            <a:ext cx="82946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EIP-712, zero gas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892850" y="1608981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97650" y="1229023"/>
            <a:ext cx="1016050" cy="998041"/>
          </a:xfrm>
          <a:prstGeom prst="roundRect">
            <a:avLst>
              <a:gd name="adj" fmla="val 101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565999" y="138142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669621" y="1449586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91020" y="1775073"/>
            <a:ext cx="8293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91020" y="1959173"/>
            <a:ext cx="829309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Snapshot Hub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315200" y="1608981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0" y="1171277"/>
            <a:ext cx="1016050" cy="11135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988350" y="132367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091971" y="139184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13370" y="1717328"/>
            <a:ext cx="8293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13370" y="1901428"/>
            <a:ext cx="82930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40-100 points instantly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7950" y="2475309"/>
            <a:ext cx="8128099" cy="539651"/>
          </a:xfrm>
          <a:prstGeom prst="roundRect">
            <a:avLst>
              <a:gd name="adj" fmla="val 14120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31763" y="2475309"/>
            <a:ext cx="0" cy="539651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6075" y="2602260"/>
            <a:ext cx="78534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don't replace Snapshot — we enhance it. Votes are submitted to Snapshot Hub and visible on snapshot.io. Zero gas fees, instant confirmation.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&amp; Security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07877"/>
            <a:ext cx="1917650" cy="908149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0350" y="1234827"/>
            <a:ext cx="1645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Data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0350" y="1428452"/>
            <a:ext cx="164510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description, timing from Snapshot GraphQL API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578001" y="1107877"/>
            <a:ext cx="1917799" cy="908149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30401" y="1234827"/>
            <a:ext cx="16452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Power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30401" y="1428452"/>
            <a:ext cx="164525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balance at snapshot block via Alchemy RPC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48200" y="1107877"/>
            <a:ext cx="1917650" cy="908149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00600" y="1234827"/>
            <a:ext cx="1645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Submission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1428452"/>
            <a:ext cx="164510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EIP-712 signature submitted to Snapshot Hub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718250" y="1107877"/>
            <a:ext cx="1917799" cy="908149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70650" y="1234827"/>
            <a:ext cx="16452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70650" y="1428452"/>
            <a:ext cx="164525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Points, levels, redemptions in PostgreSQL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950" y="2168426"/>
            <a:ext cx="8128099" cy="1035397"/>
          </a:xfrm>
          <a:prstGeom prst="roundRect">
            <a:avLst>
              <a:gd name="adj" fmla="val 9813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8450" y="2320826"/>
            <a:ext cx="79020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by Design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8450" y="2593777"/>
            <a:ext cx="18297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Custody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8450" y="2787402"/>
            <a:ext cx="182970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hold user tokens. Voting power queried from chain.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82776" y="2593777"/>
            <a:ext cx="18298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Off-Chain Signatures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82776" y="2787402"/>
            <a:ext cx="182985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EIP-712 only. No smart contract risk, no gas fees.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67250" y="2593777"/>
            <a:ext cx="18297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7250" y="2787402"/>
            <a:ext cx="182970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disclaimers, community flagging, human review for &gt;$10M.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651575" y="2593777"/>
            <a:ext cx="18298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Security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51575" y="2787402"/>
            <a:ext cx="182985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limiting, CORS whitelist, Zod validation. No SQL injection.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07877"/>
            <a:ext cx="8128099" cy="1970484"/>
          </a:xfrm>
          <a:prstGeom prst="roundRect">
            <a:avLst>
              <a:gd name="adj" fmla="val 51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07877"/>
            <a:ext cx="8128099" cy="345877"/>
          </a:xfrm>
          <a:prstGeom prst="rect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448991"/>
            <a:ext cx="8128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4901" y="1209377"/>
            <a:ext cx="1399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60402" y="1209377"/>
            <a:ext cx="13991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86051" y="1209377"/>
            <a:ext cx="13991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11701" y="1209377"/>
            <a:ext cx="13991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7350" y="1209377"/>
            <a:ext cx="13991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VoteNow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7950" y="1775817"/>
            <a:ext cx="8128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901" y="1555254"/>
            <a:ext cx="1399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Multi-DAO View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60402" y="1555254"/>
            <a:ext cx="1399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Single DAO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86051" y="1555254"/>
            <a:ext cx="1399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Limited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11701" y="1555254"/>
            <a:ext cx="1399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View only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10400" y="1453753"/>
            <a:ext cx="1625650" cy="317302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37350" y="1555254"/>
            <a:ext cx="1399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 voting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7950" y="2102644"/>
            <a:ext cx="8128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901" y="1882080"/>
            <a:ext cx="1399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260402" y="1882080"/>
            <a:ext cx="1399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None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86051" y="1882080"/>
            <a:ext cx="1399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None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11701" y="1882080"/>
            <a:ext cx="1399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None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10400" y="1780580"/>
            <a:ext cx="1625650" cy="317302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37350" y="1882080"/>
            <a:ext cx="1399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DeepSeek R1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7950" y="2429470"/>
            <a:ext cx="8128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901" y="2208907"/>
            <a:ext cx="1399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60402" y="2208907"/>
            <a:ext cx="1399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None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86051" y="2208907"/>
            <a:ext cx="1399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None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11701" y="2208907"/>
            <a:ext cx="1399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None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010400" y="2107406"/>
            <a:ext cx="1625650" cy="317302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137350" y="2208907"/>
            <a:ext cx="1399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Points → USDC/NFT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7950" y="2756297"/>
            <a:ext cx="8128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4901" y="2535734"/>
            <a:ext cx="1399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Support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260402" y="2535734"/>
            <a:ext cx="1399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(hub)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886051" y="2535734"/>
            <a:ext cx="1399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Ethereum only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11701" y="2535734"/>
            <a:ext cx="1399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010400" y="2434233"/>
            <a:ext cx="1625650" cy="317302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137350" y="2535734"/>
            <a:ext cx="1399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chains → 10+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4901" y="2862560"/>
            <a:ext cx="1399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260402" y="2862560"/>
            <a:ext cx="1399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886051" y="2862560"/>
            <a:ext cx="1399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511701" y="2862560"/>
            <a:ext cx="1399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010400" y="2761059"/>
            <a:ext cx="1625650" cy="317302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137350" y="2862560"/>
            <a:ext cx="1399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+ earn rewards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7950" y="3230761"/>
            <a:ext cx="1917650" cy="676126"/>
          </a:xfrm>
          <a:prstGeom prst="roundRect">
            <a:avLst>
              <a:gd name="adj" fmla="val 1127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34901" y="3357711"/>
            <a:ext cx="1697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Flywheel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4901" y="3551337"/>
            <a:ext cx="169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 of governance data creates irreplaceable training set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78001" y="3230761"/>
            <a:ext cx="1917799" cy="676126"/>
          </a:xfrm>
          <a:prstGeom prst="roundRect">
            <a:avLst>
              <a:gd name="adj" fmla="val 1127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704951" y="3357711"/>
            <a:ext cx="16971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Effects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704951" y="3551337"/>
            <a:ext cx="169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users → better AI → more DAOs → more users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648200" y="3230761"/>
            <a:ext cx="1917650" cy="676126"/>
          </a:xfrm>
          <a:prstGeom prst="roundRect">
            <a:avLst>
              <a:gd name="adj" fmla="val 1127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775150" y="3357711"/>
            <a:ext cx="1697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Economics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775150" y="3551337"/>
            <a:ext cx="169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→ $VOTE token creates sticky ecosystem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718250" y="3230761"/>
            <a:ext cx="1917799" cy="676126"/>
          </a:xfrm>
          <a:prstGeom prst="roundRect">
            <a:avLst>
              <a:gd name="adj" fmla="val 1127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845201" y="3357711"/>
            <a:ext cx="16971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Mover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45201" y="3551337"/>
            <a:ext cx="169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platform with AI + aggregation + rewards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 &amp;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981075"/>
            <a:ext cx="3968800" cy="1403003"/>
          </a:xfrm>
          <a:prstGeom prst="roundRect">
            <a:avLst>
              <a:gd name="adj" fmla="val 7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108025"/>
            <a:ext cx="37891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 (Year 3)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2511028"/>
            <a:ext cx="3968800" cy="1044327"/>
          </a:xfrm>
          <a:prstGeom prst="roundRect">
            <a:avLst>
              <a:gd name="adj" fmla="val 97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2637979"/>
            <a:ext cx="37891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(10K MAU)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7250" y="981075"/>
            <a:ext cx="3968800" cy="515987"/>
          </a:xfrm>
          <a:prstGeom prst="roundRect">
            <a:avLst>
              <a:gd name="adj" fmla="val 147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91063" y="981075"/>
            <a:ext cx="0" cy="515987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1825" y="1082576"/>
            <a:ext cx="37406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 (Q2-Q3 2026)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1825" y="1263551"/>
            <a:ext cx="374061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DAOs, 10+ chains, 10K MAU. Mobile app. First DAO partnerships.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67250" y="1573262"/>
            <a:ext cx="3968800" cy="647998"/>
          </a:xfrm>
          <a:prstGeom prst="roundRect">
            <a:avLst>
              <a:gd name="adj" fmla="val 11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91063" y="1573262"/>
            <a:ext cx="0" cy="647998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1825" y="1674763"/>
            <a:ext cx="37406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Ecosystem (Q4 2026 - Q2 2027)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1825" y="1855738"/>
            <a:ext cx="374061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Passport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(cross-chain identity). 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$VOTE token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launch. DeFi protocol integrations.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7250" y="2297460"/>
            <a:ext cx="3968800" cy="647998"/>
          </a:xfrm>
          <a:prstGeom prst="roundRect">
            <a:avLst>
              <a:gd name="adj" fmla="val 11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91063" y="2297460"/>
            <a:ext cx="0" cy="647998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1825" y="2398961"/>
            <a:ext cx="37406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Protocol (Q3 2027 - 2028)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1825" y="2579936"/>
            <a:ext cx="374061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MAU. 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Credit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(uncollateralized loans). Governance-as-a-Service API. Default infrastructure.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1086" y="554236"/>
            <a:ext cx="179691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811089" y="1585913"/>
            <a:ext cx="563225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Seed Round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35645" y="2925663"/>
            <a:ext cx="1777752" cy="958751"/>
          </a:xfrm>
          <a:prstGeom prst="roundRect">
            <a:avLst>
              <a:gd name="adj" fmla="val 1059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6846" y="3116163"/>
            <a:ext cx="1295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6846" y="3389114"/>
            <a:ext cx="12953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Incentives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67298" y="2925663"/>
            <a:ext cx="1777752" cy="958751"/>
          </a:xfrm>
          <a:prstGeom prst="roundRect">
            <a:avLst>
              <a:gd name="adj" fmla="val 1059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08499" y="3116163"/>
            <a:ext cx="1295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08499" y="3389114"/>
            <a:ext cx="12953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98950" y="2925663"/>
            <a:ext cx="1777752" cy="958751"/>
          </a:xfrm>
          <a:prstGeom prst="roundRect">
            <a:avLst>
              <a:gd name="adj" fmla="val 1059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40152" y="3116163"/>
            <a:ext cx="1295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40152" y="3389114"/>
            <a:ext cx="12953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30603" y="2925663"/>
            <a:ext cx="1777752" cy="958751"/>
          </a:xfrm>
          <a:prstGeom prst="roundRect">
            <a:avLst>
              <a:gd name="adj" fmla="val 1059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71804" y="3116163"/>
            <a:ext cx="1295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71804" y="3389114"/>
            <a:ext cx="12953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41600" y="4265414"/>
            <a:ext cx="3122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[email] | Demo: [link] | Code: [github]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VoteNow - AI-Powered Governance Layer</dc:title>
  <dc:subject>PptxGenJS Presentation</dc:subject>
  <dc:creator>VoteNow</dc:creator>
  <cp:lastModifiedBy>VoteNow</cp:lastModifiedBy>
  <cp:revision>1</cp:revision>
  <dcterms:created xsi:type="dcterms:W3CDTF">2026-02-12T08:29:28Z</dcterms:created>
  <dcterms:modified xsi:type="dcterms:W3CDTF">2026-02-12T08:29:28Z</dcterms:modified>
</cp:coreProperties>
</file>