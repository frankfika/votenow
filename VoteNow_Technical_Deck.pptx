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65113" y="1339900"/>
            <a:ext cx="2613773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0"/>
              </a:spcAft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VoteNow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1298028" y="2298650"/>
            <a:ext cx="654794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0"/>
              </a:spcAft>
              <a:buNone/>
            </a:pPr>
            <a:r>
              <a:rPr lang="en-US" sz="2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AI-Powered Governance Layer for Web3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832622" y="3362176"/>
            <a:ext cx="347875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-US" sz="16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 &amp; AI Deep Dive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DAO Governance is Broken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298377"/>
            <a:ext cx="3873550" cy="2787253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61851" y="1552277"/>
            <a:ext cx="343306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6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61851" y="1980902"/>
            <a:ext cx="3433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1000+ DAOs across 50+ chains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61851" y="2336453"/>
            <a:ext cx="3433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juggle Snapshot, Tally, Discourse, Discord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1851" y="2692003"/>
            <a:ext cx="343306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6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Participation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61851" y="3120628"/>
            <a:ext cx="3433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61851" y="3476179"/>
            <a:ext cx="3433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voter turnout despite $25B+ treasuries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62500" y="1298377"/>
            <a:ext cx="3873550" cy="2787253"/>
          </a:xfrm>
          <a:prstGeom prst="roundRect">
            <a:avLst>
              <a:gd name="adj" fmla="val 3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16401" y="1552277"/>
            <a:ext cx="343306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6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Overload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16401" y="1980902"/>
            <a:ext cx="3433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Proposals are 1000s of words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16401" y="2336453"/>
            <a:ext cx="3433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jargon, complex tokenomics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16401" y="2692003"/>
            <a:ext cx="343306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6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Incentives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16401" y="3120628"/>
            <a:ext cx="3433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 is volunteer work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16401" y="3476179"/>
            <a:ext cx="34330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immediate reward for participation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326952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Governance Aggregator + AI + Incentives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644402"/>
            <a:ext cx="2540050" cy="2959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07950" y="1668214"/>
            <a:ext cx="2540050" cy="0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1851" y="1945928"/>
            <a:ext cx="2072893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Multi-Chain Aggregation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61851" y="2574578"/>
            <a:ext cx="2032248" cy="1477863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DAOs across 4 chains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dashboard for all proposals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sync via Snapshot API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voting interface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01901" y="1644402"/>
            <a:ext cx="2540198" cy="2959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01901" y="1668214"/>
            <a:ext cx="2540198" cy="0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55802" y="1945928"/>
            <a:ext cx="207304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AI Governance Agent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55802" y="2574578"/>
            <a:ext cx="2032397" cy="1673423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R1</a:t>
            </a:r>
            <a:pPr algn="l" indent="0" marL="0">
              <a:lnSpc>
                <a:spcPts val="1540"/>
              </a:lnSpc>
              <a:spcAft>
                <a:spcPts val="8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powers analysis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recommendations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scoring &amp; security checks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language Q&amp;A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96000" y="1644402"/>
            <a:ext cx="2540050" cy="295900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6096000" y="1668214"/>
            <a:ext cx="2540050" cy="0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49901" y="1945928"/>
            <a:ext cx="207289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Gamified Rewards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49901" y="2336453"/>
            <a:ext cx="2032248" cy="1086743"/>
          </a:xfrm>
          <a:prstGeom prst="rect">
            <a:avLst/>
          </a:prstGeom>
          <a:noFill/>
          <a:ln/>
        </p:spPr>
        <p:txBody>
          <a:bodyPr wrap="square" lIns="114300" tIns="0" rIns="0" bIns="0" rtlCol="0" anchor="t"/>
          <a:lstStyle/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40-100 points per vote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Redeem for USDC, NFTs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Leaderboards &amp; streaks</a:t>
            </a:r>
            <a:endParaRPr lang="en-US" sz="1100" dirty="0"/>
          </a:p>
          <a:p>
            <a:pPr algn="l" marL="114300" indent="-114300">
              <a:lnSpc>
                <a:spcPts val="154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$VOTE token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Architecture: Modern Web3 Stack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171277"/>
            <a:ext cx="2497634" cy="3212157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98450" y="1361777"/>
            <a:ext cx="2158966" cy="311051"/>
          </a:xfrm>
          <a:prstGeom prst="rect">
            <a:avLst/>
          </a:prstGeom>
          <a:noFill/>
          <a:ln/>
        </p:spPr>
        <p:txBody>
          <a:bodyPr wrap="square" lIns="0" tIns="0" rIns="0" bIns="1016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Layer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98450" y="1812429"/>
            <a:ext cx="2158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19 + Vite 6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98450" y="2104430"/>
            <a:ext cx="21589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 features, 50ms HMR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98450" y="2377380"/>
            <a:ext cx="2158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wagmi 2 + viem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8450" y="2669381"/>
            <a:ext cx="21589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TypeScript-native Web3 hooks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98450" y="2942332"/>
            <a:ext cx="2158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98450" y="3234333"/>
            <a:ext cx="21589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Utility-first responsive design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98450" y="3507284"/>
            <a:ext cx="2158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Recharts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98450" y="3799284"/>
            <a:ext cx="21589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visualization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23034" y="1171277"/>
            <a:ext cx="2497782" cy="3212157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513534" y="1361777"/>
            <a:ext cx="2159118" cy="311051"/>
          </a:xfrm>
          <a:prstGeom prst="rect">
            <a:avLst/>
          </a:prstGeom>
          <a:noFill/>
          <a:ln/>
        </p:spPr>
        <p:txBody>
          <a:bodyPr wrap="square" lIns="0" tIns="0" rIns="0" bIns="1016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Layer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513534" y="1812429"/>
            <a:ext cx="21591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Hono (Node.js)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513534" y="2104430"/>
            <a:ext cx="215911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5KB, edge-compatible, 3x faster than Express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13534" y="2510730"/>
            <a:ext cx="21591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513534" y="2802731"/>
            <a:ext cx="2159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type safety, strict mode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13534" y="3075682"/>
            <a:ext cx="21591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+ Redis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513534" y="3367683"/>
            <a:ext cx="2159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data, cache, sessions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13534" y="3640634"/>
            <a:ext cx="21591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513534" y="3932634"/>
            <a:ext cx="2159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75+ tests, 90%+ coverage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138267" y="1171277"/>
            <a:ext cx="2497782" cy="3212157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328767" y="1361777"/>
            <a:ext cx="2159118" cy="311051"/>
          </a:xfrm>
          <a:prstGeom prst="rect">
            <a:avLst/>
          </a:prstGeom>
          <a:noFill/>
          <a:ln/>
        </p:spPr>
        <p:txBody>
          <a:bodyPr wrap="square" lIns="0" tIns="0" rIns="0" bIns="10160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Web3 Infrastructure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28767" y="1812429"/>
            <a:ext cx="21591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GraphQL API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28767" y="2104430"/>
            <a:ext cx="2159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data, vote submission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328767" y="2377380"/>
            <a:ext cx="21591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EIP-712 Signatures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28767" y="2669381"/>
            <a:ext cx="2159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 voting, zero gas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28767" y="2942332"/>
            <a:ext cx="21591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Alchemy/Infura RPC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28767" y="3234333"/>
            <a:ext cx="2159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Multi-chain data queries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28767" y="3507284"/>
            <a:ext cx="21591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100"/>
              </a:spcBef>
              <a:spcAft>
                <a:spcPts val="11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MetaMask + WalletConnect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328767" y="3799284"/>
            <a:ext cx="21591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authentication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20015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190500"/>
            <a:ext cx="829066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Architecture: DeepSeek-Powered Governance Agent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352550"/>
            <a:ext cx="4419898" cy="754856"/>
          </a:xfrm>
          <a:prstGeom prst="roundRect">
            <a:avLst>
              <a:gd name="adj" fmla="val 1346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1352550"/>
            <a:ext cx="0" cy="754856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6075" y="1504950"/>
            <a:ext cx="40710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R1</a:t>
            </a:r>
            <a:pPr algn="l"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 Specs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6075" y="1806476"/>
            <a:ext cx="407109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context window | MMLU 89.5% | 30 tokens/sec | OpenAI-compatible API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7950" y="2234357"/>
            <a:ext cx="4419898" cy="903387"/>
          </a:xfrm>
          <a:prstGeom prst="roundRect">
            <a:avLst>
              <a:gd name="adj" fmla="val 112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31763" y="2234357"/>
            <a:ext cx="0" cy="903387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6075" y="2386757"/>
            <a:ext cx="40710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Advantage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6075" y="2688282"/>
            <a:ext cx="407109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$0.27/M tokens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GPT-4's $5/M = </a:t>
            </a:r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20x cheaper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At scale: $2,448/year vs $49,000/year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7950" y="3264694"/>
            <a:ext cx="4419898" cy="903387"/>
          </a:xfrm>
          <a:prstGeom prst="roundRect">
            <a:avLst>
              <a:gd name="adj" fmla="val 112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1763" y="3264694"/>
            <a:ext cx="0" cy="903387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075" y="3417094"/>
            <a:ext cx="40710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Pipeline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6075" y="3718620"/>
            <a:ext cx="407109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text → Strategy matching → Risk assessment → Security checks → Recommendation → JSON output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181749" y="1352550"/>
            <a:ext cx="3454301" cy="3276600"/>
          </a:xfrm>
          <a:prstGeom prst="roundRect">
            <a:avLst>
              <a:gd name="adj" fmla="val 310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435650" y="1543050"/>
            <a:ext cx="300542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500"/>
              </a:spcAft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Features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35650" y="1981200"/>
            <a:ext cx="3005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3-5s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35650" y="2476500"/>
            <a:ext cx="30054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time per proposal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35650" y="2838450"/>
            <a:ext cx="3005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35650" y="3333750"/>
            <a:ext cx="30054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context (full proposal)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35650" y="3695700"/>
            <a:ext cx="300542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800"/>
              </a:spcBef>
              <a:spcAft>
                <a:spcPts val="1800"/>
              </a:spcAft>
              <a:buNone/>
            </a:pPr>
            <a:r>
              <a:rPr lang="en-US" sz="18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435650" y="4191000"/>
            <a:ext cx="30054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900"/>
              </a:spcBef>
              <a:spcAft>
                <a:spcPts val="900"/>
              </a:spcAft>
              <a:buNone/>
            </a:pPr>
            <a:r>
              <a:rPr lang="en-US" sz="9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 mode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Capabilities: Not Just Summaries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171277"/>
            <a:ext cx="1820466" cy="3268712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98450" y="1361777"/>
            <a:ext cx="146825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Personalized Strategy Matching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98450" y="1888778"/>
            <a:ext cx="1468255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Analyzes user's token holdings and risk profile to give targeted recommendations.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8450" y="2701082"/>
            <a:ext cx="1439466" cy="1548408"/>
          </a:xfrm>
          <a:prstGeom prst="roundRect">
            <a:avLst>
              <a:gd name="adj" fmla="val 3529"/>
            </a:avLst>
          </a:prstGeom>
          <a:solidFill>
            <a:srgbClr val="F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99951" y="2802582"/>
            <a:ext cx="1261193" cy="1243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hold significant ETH. This proposal increases staking rewards → 85% match with your Conservative Growth strategy"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582317" y="1171277"/>
            <a:ext cx="1905000" cy="3268712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772817" y="1361777"/>
            <a:ext cx="155448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Risk Assessment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72817" y="1888778"/>
            <a:ext cx="1554480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risk grading (Low/Medium/High/Critical) with technical justification.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72817" y="2523381"/>
            <a:ext cx="1524000" cy="1015305"/>
          </a:xfrm>
          <a:prstGeom prst="roundRect">
            <a:avLst>
              <a:gd name="adj" fmla="val 5003"/>
            </a:avLst>
          </a:prstGeom>
          <a:solidFill>
            <a:srgbClr val="F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74318" y="2624882"/>
            <a:ext cx="1347418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"Risk: HIGH - Contract upgrade with unaudited code, $5M treasury impact"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41218" y="1171277"/>
            <a:ext cx="1820466" cy="3268712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31718" y="1361777"/>
            <a:ext cx="146825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Security Scanning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1718" y="1888778"/>
            <a:ext cx="1468255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checks for contract addresses, treasury impact, governance attacks.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31718" y="2701082"/>
            <a:ext cx="1439466" cy="1015305"/>
          </a:xfrm>
          <a:prstGeom prst="roundRect">
            <a:avLst>
              <a:gd name="adj" fmla="val 5003"/>
            </a:avLst>
          </a:prstGeom>
          <a:solidFill>
            <a:srgbClr val="F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033218" y="2802582"/>
            <a:ext cx="1261193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"✓ Contract verified: Aave V3 Treasury | ⚠️ $2M token transfer requested"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15584" y="1171277"/>
            <a:ext cx="1820466" cy="3268712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006084" y="1361777"/>
            <a:ext cx="1468255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Conversational Research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06084" y="1888778"/>
            <a:ext cx="1468255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can ask follow-up questions about any proposal in natural language.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06084" y="2701082"/>
            <a:ext cx="1439466" cy="1472208"/>
          </a:xfrm>
          <a:prstGeom prst="roundRect">
            <a:avLst>
              <a:gd name="adj" fmla="val 3529"/>
            </a:avLst>
          </a:prstGeom>
          <a:solidFill>
            <a:srgbClr val="F0F0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107585" y="2802582"/>
            <a:ext cx="1261193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Q: "How does this affect Aave?"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107585" y="3259485"/>
            <a:ext cx="1261193" cy="71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A: "This increases reserve factor by 2%, boosting protocol revenue..."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 Flow: How It Actually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234827"/>
            <a:ext cx="938659" cy="1697534"/>
          </a:xfrm>
          <a:prstGeom prst="roundRect">
            <a:avLst>
              <a:gd name="adj" fmla="val 108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24805" y="1425327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33941" y="1492002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8053" y="1857077"/>
            <a:ext cx="69845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Wallet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28053" y="2244328"/>
            <a:ext cx="698453" cy="39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MetaMask, WalletConnect, Coinbase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73560" y="1935956"/>
            <a:ext cx="2591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954560" y="1234827"/>
            <a:ext cx="1038374" cy="1697534"/>
          </a:xfrm>
          <a:prstGeom prst="roundRect">
            <a:avLst>
              <a:gd name="adj" fmla="val 97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321272" y="1425327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430408" y="1492002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73665" y="1857077"/>
            <a:ext cx="80016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 AI Analysis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073665" y="2244328"/>
            <a:ext cx="800163" cy="39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score, recommendation, summary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119884" y="1935956"/>
            <a:ext cx="2591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500884" y="1300758"/>
            <a:ext cx="902791" cy="1565523"/>
          </a:xfrm>
          <a:prstGeom prst="roundRect">
            <a:avLst>
              <a:gd name="adj" fmla="val 11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799880" y="1491258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909015" y="1557933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21345" y="1923008"/>
            <a:ext cx="661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Vote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621345" y="2310259"/>
            <a:ext cx="661868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/ Against / Abstain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30626" y="1935956"/>
            <a:ext cx="2591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911626" y="1300758"/>
            <a:ext cx="902940" cy="1565523"/>
          </a:xfrm>
          <a:prstGeom prst="roundRect">
            <a:avLst>
              <a:gd name="adj" fmla="val 112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210621" y="1491258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319757" y="1557933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32086" y="1923008"/>
            <a:ext cx="66202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(EIP-712)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32086" y="2310259"/>
            <a:ext cx="662020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Off-chain, zero gas fees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941516" y="1935956"/>
            <a:ext cx="2591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6322516" y="1300758"/>
            <a:ext cx="902791" cy="1565523"/>
          </a:xfrm>
          <a:prstGeom prst="roundRect">
            <a:avLst>
              <a:gd name="adj" fmla="val 11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621512" y="1491258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730648" y="1557933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2978" y="1923008"/>
            <a:ext cx="661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to Snapshot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2978" y="2310259"/>
            <a:ext cx="661868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 recorded on-chain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52258" y="1935956"/>
            <a:ext cx="259131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20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733258" y="1300758"/>
            <a:ext cx="902791" cy="1565523"/>
          </a:xfrm>
          <a:prstGeom prst="roundRect">
            <a:avLst>
              <a:gd name="adj" fmla="val 11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8032254" y="1491258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141390" y="1557933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53720" y="1923008"/>
            <a:ext cx="661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0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Points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853720" y="2310259"/>
            <a:ext cx="661868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4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40-100 pts instantly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7950" y="3186261"/>
            <a:ext cx="8128099" cy="609600"/>
          </a:xfrm>
          <a:prstGeom prst="roundRect">
            <a:avLst>
              <a:gd name="adj" fmla="val 12500"/>
            </a:avLst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531763" y="3186261"/>
            <a:ext cx="0" cy="609600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6075" y="3338661"/>
            <a:ext cx="78534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Key:</a:t>
            </a:r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don't replace Snapshot — we enhance it. Votes are submitted to Snapshot Hub (hub.snapshot.org) and visible on snapshot.io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101: Snapshot vs On-Chain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171277"/>
            <a:ext cx="8128099" cy="2075259"/>
          </a:xfrm>
          <a:prstGeom prst="roundRect">
            <a:avLst>
              <a:gd name="adj" fmla="val 48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9050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171277"/>
            <a:ext cx="8128099" cy="355402"/>
          </a:xfrm>
          <a:prstGeom prst="rect">
            <a:avLst/>
          </a:prstGeom>
          <a:solidFill>
            <a:srgbClr val="0F34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07950" y="1521916"/>
            <a:ext cx="8128099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0350" y="1272778"/>
            <a:ext cx="24525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17218" y="1171277"/>
            <a:ext cx="2709416" cy="345877"/>
          </a:xfrm>
          <a:prstGeom prst="rect">
            <a:avLst/>
          </a:prstGeom>
          <a:solidFill>
            <a:srgbClr val="D4ED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69618" y="1272778"/>
            <a:ext cx="24527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(We Support)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26634" y="1171277"/>
            <a:ext cx="2709416" cy="345877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79034" y="1272778"/>
            <a:ext cx="24527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7950" y="1867793"/>
            <a:ext cx="8128099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0350" y="1628180"/>
            <a:ext cx="24525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Proposal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17218" y="1526679"/>
            <a:ext cx="2709416" cy="336352"/>
          </a:xfrm>
          <a:prstGeom prst="rect">
            <a:avLst/>
          </a:prstGeom>
          <a:solidFill>
            <a:srgbClr val="D4ED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369618" y="1628180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data (title, desc)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26634" y="1526679"/>
            <a:ext cx="2709416" cy="336352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079034" y="1628180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contract code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07950" y="2213670"/>
            <a:ext cx="8128099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0350" y="1974056"/>
            <a:ext cx="24525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 Cost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17218" y="1872555"/>
            <a:ext cx="2709416" cy="336352"/>
          </a:xfrm>
          <a:prstGeom prst="rect">
            <a:avLst/>
          </a:prstGeom>
          <a:solidFill>
            <a:srgbClr val="D4ED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69618" y="1974056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gas (free)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926634" y="1872555"/>
            <a:ext cx="2709416" cy="336352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79034" y="1974056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$5-50 gas/vote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7950" y="2559546"/>
            <a:ext cx="8128099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0350" y="2319933"/>
            <a:ext cx="24525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17218" y="2218432"/>
            <a:ext cx="2709416" cy="336352"/>
          </a:xfrm>
          <a:prstGeom prst="rect">
            <a:avLst/>
          </a:prstGeom>
          <a:solidFill>
            <a:srgbClr val="D4ED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369618" y="2319933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DAOs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26634" y="2218432"/>
            <a:ext cx="2709416" cy="336352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079034" y="2319933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protocols only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7950" y="2905423"/>
            <a:ext cx="8128099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350" y="2665809"/>
            <a:ext cx="24525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217218" y="2564309"/>
            <a:ext cx="2709416" cy="336352"/>
          </a:xfrm>
          <a:prstGeom prst="rect">
            <a:avLst/>
          </a:prstGeom>
          <a:solidFill>
            <a:srgbClr val="D4ED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3369618" y="2665809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Uniswap, Arbitrum, ENS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926634" y="2564309"/>
            <a:ext cx="2709416" cy="336352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079034" y="2665809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MakerDAO, Compound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60350" y="3011686"/>
            <a:ext cx="24525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17218" y="2910185"/>
            <a:ext cx="2709416" cy="336352"/>
          </a:xfrm>
          <a:prstGeom prst="rect">
            <a:avLst/>
          </a:prstGeom>
          <a:solidFill>
            <a:srgbClr val="D4EDD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69618" y="3011686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Multi-sig manual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926634" y="2910185"/>
            <a:ext cx="2709416" cy="336352"/>
          </a:xfrm>
          <a:prstGeom prst="rect">
            <a:avLst/>
          </a:prstGeom>
          <a:solidFill>
            <a:srgbClr val="FFF3C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079034" y="3011686"/>
            <a:ext cx="245270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auto-execute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07950" y="3398937"/>
            <a:ext cx="8128099" cy="693390"/>
          </a:xfrm>
          <a:prstGeom prst="roundRect">
            <a:avLst>
              <a:gd name="adj" fmla="val 10989"/>
            </a:avLst>
          </a:prstGeom>
          <a:solidFill>
            <a:srgbClr val="E7F3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531763" y="3398937"/>
            <a:ext cx="0" cy="693390"/>
          </a:xfrm>
          <a:prstGeom prst="line">
            <a:avLst/>
          </a:prstGeom>
          <a:noFill/>
          <a:ln w="47625">
            <a:solidFill>
              <a:srgbClr val="0F346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46075" y="3551337"/>
            <a:ext cx="78534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Snapshot First?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6075" y="3779937"/>
            <a:ext cx="7853464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Large market (80% share) 2. Better UX (free voting) 3. Mature tech 4. Roadmap: Phase 2 add on-chain reading, Phase 3 full on-chain voting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326952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Architecture: 100% Real, On-Chain Sources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580852"/>
            <a:ext cx="2582317" cy="1071563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98450" y="1733252"/>
            <a:ext cx="22453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98450" y="1961852"/>
            <a:ext cx="224534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Title, description, start/end time, choices, state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280767" y="1580852"/>
            <a:ext cx="2582466" cy="1071563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71267" y="1733252"/>
            <a:ext cx="22454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Voting Power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71267" y="1961852"/>
            <a:ext cx="224549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balance at snapshot block, delegation status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53733" y="1580852"/>
            <a:ext cx="2582317" cy="1071563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244233" y="1733252"/>
            <a:ext cx="22453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 Submission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244233" y="1961852"/>
            <a:ext cx="224534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EIP-712 signature, choice, timestamp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7950" y="2842915"/>
            <a:ext cx="2582317" cy="1071563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8450" y="2995315"/>
            <a:ext cx="22453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Points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98450" y="3223915"/>
            <a:ext cx="2245343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balance, level, streak, redemption history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80767" y="2842915"/>
            <a:ext cx="2582466" cy="1071563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471267" y="2995315"/>
            <a:ext cx="22454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Analysis Cache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1267" y="3223915"/>
            <a:ext cx="224549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Cached proposal analysis, user preferences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53733" y="2842915"/>
            <a:ext cx="2582317" cy="1071563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244233" y="2995315"/>
            <a:ext cx="22453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Leaderboard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44233" y="3223915"/>
            <a:ext cx="2245343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rankings, DAO-specific stats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7950" y="4104977"/>
            <a:ext cx="8128099" cy="681930"/>
          </a:xfrm>
          <a:prstGeom prst="roundRect">
            <a:avLst>
              <a:gd name="adj" fmla="val 1117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98450" y="4257377"/>
            <a:ext cx="790204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Architecture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8450" y="4485977"/>
            <a:ext cx="7902041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(React) → Backend API (Hono) → Multi-source aggregation → PostgreSQL/Redis storage → Real-time sync with Snapshot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Data Flywheel: The Moat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05246" y="1171277"/>
            <a:ext cx="1320701" cy="622250"/>
          </a:xfrm>
          <a:prstGeom prst="roundRect">
            <a:avLst>
              <a:gd name="adj" fmla="val 163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47487" y="1323677"/>
            <a:ext cx="10362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Users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47487" y="1526828"/>
            <a:ext cx="103621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Vote on platform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752898" y="1348978"/>
            <a:ext cx="2331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108448" y="1171277"/>
            <a:ext cx="1320701" cy="622250"/>
          </a:xfrm>
          <a:prstGeom prst="roundRect">
            <a:avLst>
              <a:gd name="adj" fmla="val 163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50689" y="1323677"/>
            <a:ext cx="10362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Votes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50689" y="1526828"/>
            <a:ext cx="103621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data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56099" y="1348978"/>
            <a:ext cx="2331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911650" y="1171277"/>
            <a:ext cx="1320701" cy="622250"/>
          </a:xfrm>
          <a:prstGeom prst="roundRect">
            <a:avLst>
              <a:gd name="adj" fmla="val 163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053891" y="1323677"/>
            <a:ext cx="10362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Data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53891" y="1526828"/>
            <a:ext cx="103621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learns patterns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359301" y="1348978"/>
            <a:ext cx="2331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714851" y="1171277"/>
            <a:ext cx="1320701" cy="622250"/>
          </a:xfrm>
          <a:prstGeom prst="roundRect">
            <a:avLst>
              <a:gd name="adj" fmla="val 163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57092" y="1323677"/>
            <a:ext cx="10362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AI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57092" y="1526828"/>
            <a:ext cx="103621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Accurate predictions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162502" y="1348978"/>
            <a:ext cx="23317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518053" y="1171277"/>
            <a:ext cx="1320701" cy="622250"/>
          </a:xfrm>
          <a:prstGeom prst="roundRect">
            <a:avLst>
              <a:gd name="adj" fmla="val 163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95250" dist="28575" dir="5400000">
              <a:srgbClr val="000000">
                <a:alpha val="10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660294" y="1323677"/>
            <a:ext cx="10362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Users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660294" y="1526828"/>
            <a:ext cx="103621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Cycle repeats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44401" y="2047429"/>
            <a:ext cx="2624733" cy="853380"/>
          </a:xfrm>
          <a:prstGeom prst="roundRect">
            <a:avLst>
              <a:gd name="adj" fmla="val 11906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96801" y="2199829"/>
            <a:ext cx="23663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6-Month Data Barrier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96801" y="2428429"/>
            <a:ext cx="236633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analysis history creates dataset no competitor can replicate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59634" y="2047429"/>
            <a:ext cx="2624733" cy="853380"/>
          </a:xfrm>
          <a:prstGeom prst="roundRect">
            <a:avLst>
              <a:gd name="adj" fmla="val 11906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12034" y="2199829"/>
            <a:ext cx="23663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Profiles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412034" y="2428429"/>
            <a:ext cx="236633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Conservative/Balanced/Aggressive preferences improve recommendations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074866" y="2047429"/>
            <a:ext cx="2624733" cy="853380"/>
          </a:xfrm>
          <a:prstGeom prst="roundRect">
            <a:avLst>
              <a:gd name="adj" fmla="val 11906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227266" y="2199829"/>
            <a:ext cx="23663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DAO-Specific Models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227266" y="2428429"/>
            <a:ext cx="236633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DAO's governance patterns learned and optimized separately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Trust: Non-Custodial by Design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234827"/>
            <a:ext cx="3905250" cy="984052"/>
          </a:xfrm>
          <a:prstGeom prst="roundRect">
            <a:avLst>
              <a:gd name="adj" fmla="val 103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31763" y="1234827"/>
            <a:ext cx="0" cy="984052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6075" y="1425327"/>
            <a:ext cx="35461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Custody of Funds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6075" y="1672977"/>
            <a:ext cx="3546158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never hold user tokens. Voting power is queried from chain, not stored.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7950" y="2371279"/>
            <a:ext cx="3905250" cy="984052"/>
          </a:xfrm>
          <a:prstGeom prst="roundRect">
            <a:avLst>
              <a:gd name="adj" fmla="val 103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531763" y="2371279"/>
            <a:ext cx="0" cy="984052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6075" y="2561779"/>
            <a:ext cx="35461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Off-Chain Signatures Only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6075" y="2809429"/>
            <a:ext cx="3546158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EIP-712 structured signing. No smart contract interactions, no gas fees, no exploit risk.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7950" y="3507730"/>
            <a:ext cx="3905250" cy="984052"/>
          </a:xfrm>
          <a:prstGeom prst="roundRect">
            <a:avLst>
              <a:gd name="adj" fmla="val 103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531763" y="3507730"/>
            <a:ext cx="0" cy="984052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075" y="3698230"/>
            <a:ext cx="35461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Data Sources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6075" y="3945880"/>
            <a:ext cx="3546158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proposal data from official Snapshot API. All voting power from on-chain RPC calls.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30651" y="1234827"/>
            <a:ext cx="3905399" cy="114300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54463" y="1234827"/>
            <a:ext cx="0" cy="1143000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8776" y="1425327"/>
            <a:ext cx="35463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Safety Measures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68776" y="1672977"/>
            <a:ext cx="3476774" cy="4762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"Advisory Only" disclaimers on all AI output</a:t>
            </a:r>
            <a:endParaRPr lang="en-US" sz="9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flagging for bad analysis</a:t>
            </a:r>
            <a:endParaRPr lang="en-US" sz="9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 for high-value proposals (&gt;$10M)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30651" y="2530227"/>
            <a:ext cx="3905399" cy="1314450"/>
          </a:xfrm>
          <a:prstGeom prst="roundRect">
            <a:avLst>
              <a:gd name="adj" fmla="val 7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754463" y="2530227"/>
            <a:ext cx="0" cy="1314450"/>
          </a:xfrm>
          <a:prstGeom prst="line">
            <a:avLst/>
          </a:prstGeom>
          <a:noFill/>
          <a:ln w="47625">
            <a:solidFill>
              <a:srgbClr val="E945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68776" y="2720727"/>
            <a:ext cx="35463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Security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68776" y="2968377"/>
            <a:ext cx="3476774" cy="64770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limiting: 100 req/min per IP</a:t>
            </a:r>
            <a:endParaRPr lang="en-US" sz="9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whitelist</a:t>
            </a:r>
            <a:endParaRPr lang="en-US" sz="9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Zod input validation</a:t>
            </a:r>
            <a:endParaRPr lang="en-US" sz="9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SQL injection risk (parameterized queries)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917377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253901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Future: Cross-Chain Governance Identity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7950" y="1171277"/>
            <a:ext cx="8128099" cy="1133475"/>
          </a:xfrm>
          <a:prstGeom prst="roundRect">
            <a:avLst>
              <a:gd name="adj" fmla="val 89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98450" y="1323677"/>
            <a:ext cx="634901" cy="634901"/>
          </a:xfrm>
          <a:prstGeom prst="roundRect">
            <a:avLst>
              <a:gd name="adj" fmla="val 144022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6341" y="1536353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3851" y="1323677"/>
            <a:ext cx="29516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Foundation (2026 Q2-Q3)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23851" y="1609427"/>
            <a:ext cx="2893814" cy="50482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 DAOs, 10+ chains, 10K MAU</a:t>
            </a:r>
            <a:endParaRPr lang="en-US" sz="10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launch</a:t>
            </a:r>
            <a:endParaRPr lang="en-US" sz="10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DAO partnerships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7950" y="2457152"/>
            <a:ext cx="8128099" cy="1133475"/>
          </a:xfrm>
          <a:prstGeom prst="roundRect">
            <a:avLst>
              <a:gd name="adj" fmla="val 89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8450" y="2609552"/>
            <a:ext cx="634901" cy="634901"/>
          </a:xfrm>
          <a:prstGeom prst="roundRect">
            <a:avLst>
              <a:gd name="adj" fmla="val 144022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66341" y="2822228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523851" y="2609552"/>
            <a:ext cx="452727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Ecosystem (2026 Q4-2027 Q2)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3851" y="2895302"/>
            <a:ext cx="4438501" cy="50482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Passport</a:t>
            </a:r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Cross-chain identity aggregating all voting history</a:t>
            </a:r>
            <a:endParaRPr lang="en-US" sz="10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$VOTE Token</a:t>
            </a:r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Points convert to governance token (Solana phone model)</a:t>
            </a:r>
            <a:endParaRPr lang="en-US" sz="10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Score used for DeFi protocol airdrops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7950" y="3743027"/>
            <a:ext cx="8128099" cy="1133475"/>
          </a:xfrm>
          <a:prstGeom prst="roundRect">
            <a:avLst>
              <a:gd name="adj" fmla="val 89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7150" dist="1905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98450" y="3895427"/>
            <a:ext cx="634901" cy="634901"/>
          </a:xfrm>
          <a:prstGeom prst="roundRect">
            <a:avLst>
              <a:gd name="adj" fmla="val 144022"/>
            </a:avLst>
          </a:prstGeom>
          <a:solidFill>
            <a:srgbClr val="E9456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66341" y="4108103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23851" y="3895427"/>
            <a:ext cx="394616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F34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Protocol (2027 Q3-2028)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523851" y="4181177"/>
            <a:ext cx="3868787" cy="50482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MAU, default governance infrastructure</a:t>
            </a:r>
            <a:endParaRPr lang="en-US" sz="10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Credit</a:t>
            </a:r>
            <a:pPr algn="l"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High-score users get uncollateralized loans</a:t>
            </a:r>
            <a:endParaRPr lang="en-US" sz="1000" dirty="0"/>
          </a:p>
          <a:p>
            <a:pPr algn="l" marL="101600" indent="-1016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Governance-as-a-Service API for third-party apps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91086" y="554236"/>
            <a:ext cx="1796912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811089" y="1585913"/>
            <a:ext cx="5632258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0"/>
              </a:spcBef>
              <a:spcAft>
                <a:spcPts val="2000"/>
              </a:spcAft>
              <a:buNone/>
            </a:pPr>
            <a:r>
              <a:rPr lang="en-US" sz="48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$500K Seed Round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35645" y="2925663"/>
            <a:ext cx="1777752" cy="958751"/>
          </a:xfrm>
          <a:prstGeom prst="roundRect">
            <a:avLst>
              <a:gd name="adj" fmla="val 10597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6846" y="3116163"/>
            <a:ext cx="12953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76846" y="3389114"/>
            <a:ext cx="12953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Incentives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667298" y="2925663"/>
            <a:ext cx="1777752" cy="958751"/>
          </a:xfrm>
          <a:prstGeom prst="roundRect">
            <a:avLst>
              <a:gd name="adj" fmla="val 10597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908499" y="3116163"/>
            <a:ext cx="12953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08499" y="3389114"/>
            <a:ext cx="12953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$200K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98950" y="2925663"/>
            <a:ext cx="1777752" cy="958751"/>
          </a:xfrm>
          <a:prstGeom prst="roundRect">
            <a:avLst>
              <a:gd name="adj" fmla="val 10597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40152" y="3116163"/>
            <a:ext cx="12953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40152" y="3389114"/>
            <a:ext cx="12953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30603" y="2925663"/>
            <a:ext cx="1777752" cy="958751"/>
          </a:xfrm>
          <a:prstGeom prst="roundRect">
            <a:avLst>
              <a:gd name="adj" fmla="val 10597"/>
            </a:avLst>
          </a:prstGeom>
          <a:solidFill>
            <a:srgbClr val="FFFFFF">
              <a:alpha val="1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71804" y="3116163"/>
            <a:ext cx="12953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E945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971804" y="3389114"/>
            <a:ext cx="12953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041600" y="4265414"/>
            <a:ext cx="312201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0"/>
              </a:spcBef>
              <a:spcAft>
                <a:spcPts val="1200"/>
              </a:spcAft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Contact: [email] | Demo: [link] | Code: [github]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VoteNow - AI-Powered Governance Layer</dc:title>
  <dc:subject>PptxGenJS Presentation</dc:subject>
  <dc:creator>VoteNow</dc:creator>
  <cp:lastModifiedBy>VoteNow</cp:lastModifiedBy>
  <cp:revision>1</cp:revision>
  <dcterms:created xsi:type="dcterms:W3CDTF">2026-02-12T08:15:46Z</dcterms:created>
  <dcterms:modified xsi:type="dcterms:W3CDTF">2026-02-12T08:15:46Z</dcterms:modified>
</cp:coreProperties>
</file>