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5113" y="1339900"/>
            <a:ext cx="261377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VoteNow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98028" y="2298650"/>
            <a:ext cx="65479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AI-Powered Governance Layer for Web3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32622" y="3362176"/>
            <a:ext cx="34787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AI Deep Dive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DAO Governance is Broken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3873550" cy="2787253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52277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51" y="1980902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DAOs across 50+ chains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851" y="2336453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juggle Snapshot, Tally, Discourse, Discord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851" y="2692003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Participation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51" y="3120628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851" y="3476179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voter turnout despite $25B+ treasuries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0" y="1298377"/>
            <a:ext cx="3873550" cy="2787253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6401" y="1552277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6401" y="1980902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are 1000s of 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6401" y="2336453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jargon, complex tokenomics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6401" y="2692003"/>
            <a:ext cx="34330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Incentives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6401" y="3120628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is volunteer 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6401" y="3476179"/>
            <a:ext cx="343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immediate reward for participation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Governance Aggregator + AI + Incentives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644402"/>
            <a:ext cx="2540050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668214"/>
            <a:ext cx="2540050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945928"/>
            <a:ext cx="20728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Multi-Chain Aggregation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2574578"/>
            <a:ext cx="2032248" cy="14778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DAOs across 4 chains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all proposals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via Snapshot API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voting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1644402"/>
            <a:ext cx="2540198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668214"/>
            <a:ext cx="2540198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802" y="1945928"/>
            <a:ext cx="20730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Governance 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5802" y="2574578"/>
            <a:ext cx="2032397" cy="167342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R1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powers analysis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&amp; security checks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Q&amp;A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1644402"/>
            <a:ext cx="2540050" cy="2959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668214"/>
            <a:ext cx="2540050" cy="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901" y="1945928"/>
            <a:ext cx="20728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Gamified Rewards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9901" y="2336453"/>
            <a:ext cx="2032248" cy="10867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40-100 points per vote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 for USDC, NFTs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Leaderboards &amp; streaks</a:t>
            </a:r>
            <a:endParaRPr lang="en-US" sz="1100" dirty="0"/>
          </a:p>
          <a:p>
            <a:pPr algn="l" marL="114300" indent="-1143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$VOTE token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Architecture: Modern Web3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2497634" cy="3212157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61777"/>
            <a:ext cx="2158966" cy="3110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8450" y="1812429"/>
            <a:ext cx="2158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8450" y="2104430"/>
            <a:ext cx="2158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features, 50ms HMR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8450" y="2377380"/>
            <a:ext cx="2158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wagmi 2 + viem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8450" y="2669381"/>
            <a:ext cx="2158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TypeScript-native Web3 hooks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8450" y="2942332"/>
            <a:ext cx="2158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8450" y="3234333"/>
            <a:ext cx="2158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responsive 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8450" y="3507284"/>
            <a:ext cx="2158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450" y="3799284"/>
            <a:ext cx="2158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3034" y="1171277"/>
            <a:ext cx="2497782" cy="3212157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13534" y="1361777"/>
            <a:ext cx="2159118" cy="3110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13534" y="1812429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 (Node.js)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13534" y="2104430"/>
            <a:ext cx="21591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5KB, edge-compatible, 3x faster than Express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13534" y="2510730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13534" y="2802731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type safety, strict mode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13534" y="3075682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13534" y="3367683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data, cache, sessions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3534" y="3640634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13534" y="3932634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 tests, 90%+ coverage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38267" y="1171277"/>
            <a:ext cx="2497782" cy="3212157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28767" y="1361777"/>
            <a:ext cx="2159118" cy="3110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Infrastructure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8767" y="1812429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GraphQL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8767" y="2104430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data, vote submission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8767" y="2377380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Signatures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8767" y="2669381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voting, zero gas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8767" y="2942332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Alchemy/Infura RPC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8767" y="3234333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data queries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8767" y="3507284"/>
            <a:ext cx="21591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 + WalletConnect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8767" y="3799284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authentication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015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Architecture: DeepSeek-Powered Governance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352550"/>
            <a:ext cx="4419898" cy="754856"/>
          </a:xfrm>
          <a:prstGeom prst="roundRect">
            <a:avLst>
              <a:gd name="adj" fmla="val 13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352550"/>
            <a:ext cx="0" cy="754856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504950"/>
            <a:ext cx="4071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R1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Specs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6075" y="1806476"/>
            <a:ext cx="407109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context window | MMLU 89.5% | 30 tokens/sec | OpenAI-compatible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234357"/>
            <a:ext cx="4419898" cy="903387"/>
          </a:xfrm>
          <a:prstGeom prst="roundRect">
            <a:avLst>
              <a:gd name="adj" fmla="val 11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234357"/>
            <a:ext cx="0" cy="903387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075" y="2386757"/>
            <a:ext cx="4071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Advantage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075" y="2688282"/>
            <a:ext cx="407109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$0.27/M tokens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GPT-4's $5/M = </a:t>
            </a:r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 cheaper</a:t>
            </a:r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At scale: $2,448/year vs $49,000/year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264694"/>
            <a:ext cx="4419898" cy="903387"/>
          </a:xfrm>
          <a:prstGeom prst="roundRect">
            <a:avLst>
              <a:gd name="adj" fmla="val 11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264694"/>
            <a:ext cx="0" cy="903387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075" y="3417094"/>
            <a:ext cx="4071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6075" y="3718620"/>
            <a:ext cx="407109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text → Strategy matching → Risk assessment → Security checks → Recommendation → JSON 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81749" y="1352550"/>
            <a:ext cx="3454301" cy="3276600"/>
          </a:xfrm>
          <a:prstGeom prst="roundRect">
            <a:avLst>
              <a:gd name="adj" fmla="val 310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35650" y="1543050"/>
            <a:ext cx="30054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35650" y="1981200"/>
            <a:ext cx="3005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5650" y="2476500"/>
            <a:ext cx="3005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 per proposal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35650" y="2838450"/>
            <a:ext cx="3005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35650" y="3333750"/>
            <a:ext cx="3005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context (full proposal)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35650" y="3695700"/>
            <a:ext cx="30054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35650" y="4191000"/>
            <a:ext cx="3005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mode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Capabilities: Not Just Summaries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Personalized Strategy Matching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50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user's token holdings and risk profile to give targeted recommendations.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2701082"/>
            <a:ext cx="1439466" cy="1548408"/>
          </a:xfrm>
          <a:prstGeom prst="roundRect">
            <a:avLst>
              <a:gd name="adj" fmla="val 352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9951" y="2802582"/>
            <a:ext cx="1261193" cy="1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hold significant ETH. This proposal increases staking rewards → 85% match with your Conservative Growth strategy"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2317" y="1171277"/>
            <a:ext cx="1905000" cy="326871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2817" y="1361777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Risk Assessment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2817" y="1888778"/>
            <a:ext cx="155448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risk grading (Low/Medium/High/Critical) with technical justification.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72817" y="2523381"/>
            <a:ext cx="1524000" cy="1015305"/>
          </a:xfrm>
          <a:prstGeom prst="roundRect">
            <a:avLst>
              <a:gd name="adj" fmla="val 50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74318" y="2624882"/>
            <a:ext cx="1347418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"Risk: HIGH - Contract upgrade with unaudited code, $5M treasury impact"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41218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1718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Security Scanning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1718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for contract addresses, treasury impact, governance attacks.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1718" y="2701082"/>
            <a:ext cx="1439466" cy="1015305"/>
          </a:xfrm>
          <a:prstGeom prst="roundRect">
            <a:avLst>
              <a:gd name="adj" fmla="val 5003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33218" y="2802582"/>
            <a:ext cx="126119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"✓ Contract verified: Aave V3 Treasury | ⚠️ $2M token transfer requested"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5584" y="1171277"/>
            <a:ext cx="1820466" cy="3268712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6084" y="1361777"/>
            <a:ext cx="1468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Conversational Research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6084" y="1888778"/>
            <a:ext cx="1468255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ask follow-up questions about any proposal in natural language.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06084" y="2701082"/>
            <a:ext cx="1439466" cy="1472208"/>
          </a:xfrm>
          <a:prstGeom prst="roundRect">
            <a:avLst>
              <a:gd name="adj" fmla="val 352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07585" y="2802582"/>
            <a:ext cx="126119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does this affect Aave?"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07585" y="3259485"/>
            <a:ext cx="126119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"This increases reserve factor by 2%, boosting protocol revenue..."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Flow: How It Actually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938659" cy="1697534"/>
          </a:xfrm>
          <a:prstGeom prst="roundRect">
            <a:avLst>
              <a:gd name="adj" fmla="val 10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4805" y="14253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3941" y="149200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8053" y="1857077"/>
            <a:ext cx="698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Wallet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8053" y="2244328"/>
            <a:ext cx="698453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MetaMask, WalletConnect, Coinbase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73560" y="193595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54560" y="1234827"/>
            <a:ext cx="1038374" cy="1697534"/>
          </a:xfrm>
          <a:prstGeom prst="roundRect">
            <a:avLst>
              <a:gd name="adj" fmla="val 97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21272" y="14253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30408" y="149200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3665" y="1857077"/>
            <a:ext cx="8001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AI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73665" y="2244328"/>
            <a:ext cx="800163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score, recommendation, summary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19884" y="193595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00884" y="1300758"/>
            <a:ext cx="902791" cy="1565523"/>
          </a:xfrm>
          <a:prstGeom prst="roundRect">
            <a:avLst>
              <a:gd name="adj" fmla="val 11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99880" y="149125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9015" y="15579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21345" y="1923008"/>
            <a:ext cx="661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Vote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21345" y="2310259"/>
            <a:ext cx="66186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/ Against / Abstain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30626" y="193595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11626" y="1300758"/>
            <a:ext cx="902940" cy="1565523"/>
          </a:xfrm>
          <a:prstGeom prst="roundRect">
            <a:avLst>
              <a:gd name="adj" fmla="val 11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0621" y="149125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19757" y="15579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32086" y="1923008"/>
            <a:ext cx="662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(EIP-712)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32086" y="2310259"/>
            <a:ext cx="66202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Off-chain, zero gas fees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1516" y="193595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22516" y="1300758"/>
            <a:ext cx="902791" cy="1565523"/>
          </a:xfrm>
          <a:prstGeom prst="roundRect">
            <a:avLst>
              <a:gd name="adj" fmla="val 11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21512" y="149125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30648" y="15579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2978" y="1923008"/>
            <a:ext cx="661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Snapshot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2978" y="2310259"/>
            <a:ext cx="66186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recorded on-chain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52258" y="193595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733258" y="1300758"/>
            <a:ext cx="902791" cy="1565523"/>
          </a:xfrm>
          <a:prstGeom prst="roundRect">
            <a:avLst>
              <a:gd name="adj" fmla="val 11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32254" y="149125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41390" y="15579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53720" y="1923008"/>
            <a:ext cx="661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Points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53720" y="2310259"/>
            <a:ext cx="66186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40-100 pts instantly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3186261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31763" y="3186261"/>
            <a:ext cx="0" cy="60960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6075" y="3338661"/>
            <a:ext cx="7853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don't replace Snapshot — we enhance it. Votes are submitted to Snapshot Hub (hub.snapshot.org) and visible on snapshot.io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Architecture: 100% Real, On-Chain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80852"/>
            <a:ext cx="2582317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733252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8450" y="1961852"/>
            <a:ext cx="224534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description, start/end time, choices, 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80767" y="1580852"/>
            <a:ext cx="2582466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1267" y="1733252"/>
            <a:ext cx="2245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Power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1267" y="1961852"/>
            <a:ext cx="22454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balance at snapshot block, delegation status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53733" y="1580852"/>
            <a:ext cx="2582317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4233" y="1733252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Submission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44233" y="1961852"/>
            <a:ext cx="224534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signature, choice, timestamp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842915"/>
            <a:ext cx="2582317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8450" y="2995315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8450" y="3223915"/>
            <a:ext cx="224534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balance, level, streak, redemption history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0767" y="2842915"/>
            <a:ext cx="2582466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71267" y="2995315"/>
            <a:ext cx="2245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Cache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1267" y="3223915"/>
            <a:ext cx="22454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proposal analysis, user preferences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53733" y="2842915"/>
            <a:ext cx="2582317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4233" y="2995315"/>
            <a:ext cx="22453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4233" y="3223915"/>
            <a:ext cx="224534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rankings, DAO-specific stats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4104977"/>
            <a:ext cx="8128099" cy="681930"/>
          </a:xfrm>
          <a:prstGeom prst="roundRect">
            <a:avLst>
              <a:gd name="adj" fmla="val 11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8450" y="4257377"/>
            <a:ext cx="79020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Architecture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8450" y="4485977"/>
            <a:ext cx="790204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(React) → Backend API (Hono) → Multi-source aggregation → PostgreSQL/Redis storage → Real-time sync with Snapshot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Flywheel: The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5246" y="1171277"/>
            <a:ext cx="13207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487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7487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52898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8448" y="1171277"/>
            <a:ext cx="13207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50689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50689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56099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11650" y="1171277"/>
            <a:ext cx="13207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53891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53891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59301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14851" y="1171277"/>
            <a:ext cx="13207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57092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7092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predictions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62502" y="134897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18053" y="1171277"/>
            <a:ext cx="1320701" cy="622250"/>
          </a:xfrm>
          <a:prstGeom prst="roundRect">
            <a:avLst>
              <a:gd name="adj" fmla="val 16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857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60294" y="132367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60294" y="15268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repeats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4401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6801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Data Barrier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6801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analysis history creates dataset no competitor can replicate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9634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12034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Profiles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2034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Conservative/Balanced/Aggressive preferences improve recommendations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4866" y="2047429"/>
            <a:ext cx="2624733" cy="853380"/>
          </a:xfrm>
          <a:prstGeom prst="roundRect">
            <a:avLst>
              <a:gd name="adj" fmla="val 1190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7266" y="2199829"/>
            <a:ext cx="23663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DAO-Specific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266" y="2428429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DAO's governance patterns learned and optimized separately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Trust: Non-Custodial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905250" cy="9840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34827"/>
            <a:ext cx="0" cy="984052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425327"/>
            <a:ext cx="35461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 of Funds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6075" y="1672977"/>
            <a:ext cx="354615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hold user tokens. Voting power is queried from chain, not stored.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371279"/>
            <a:ext cx="3905250" cy="9840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371279"/>
            <a:ext cx="0" cy="984052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075" y="2561779"/>
            <a:ext cx="35461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Signatures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6075" y="2809429"/>
            <a:ext cx="354615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EIP-712 structured signing. No smart contract interactions, no gas fees, no exploit risk.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507730"/>
            <a:ext cx="3905250" cy="984052"/>
          </a:xfrm>
          <a:prstGeom prst="roundRect">
            <a:avLst>
              <a:gd name="adj" fmla="val 103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507730"/>
            <a:ext cx="0" cy="984052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075" y="3698230"/>
            <a:ext cx="35461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Data Sources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6075" y="3945880"/>
            <a:ext cx="354615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proposal data from official Snapshot API. All voting power from on-chain RPC calls.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0651" y="1234827"/>
            <a:ext cx="3905399" cy="11430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4463" y="1234827"/>
            <a:ext cx="0" cy="114300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8776" y="1425327"/>
            <a:ext cx="35463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Measures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8776" y="1672977"/>
            <a:ext cx="3476774" cy="4762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"Advisory Only" disclaimers on all AI output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flagging for bad analysis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for high-value proposals (&gt;$10M)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0651" y="2530227"/>
            <a:ext cx="3905399" cy="1314450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54463" y="2530227"/>
            <a:ext cx="0" cy="1314450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8776" y="2720727"/>
            <a:ext cx="35463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8776" y="2968377"/>
            <a:ext cx="3476774" cy="6477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limiting: 100 req/min per IP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whitelist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input validation</a:t>
            </a:r>
            <a:endParaRPr lang="en-US" sz="9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SQL injection risk (parameterized queries)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Cross-Chain Governance Identity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8128099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2367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6341" y="153635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3851" y="1323677"/>
            <a:ext cx="2951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(2026 Q2-Q3)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3851" y="1609427"/>
            <a:ext cx="2893814" cy="5048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DAOs, 10+ chains, 10K MAU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launch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DAO partnerships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457152"/>
            <a:ext cx="8128099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8450" y="2609552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6341" y="2822228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3851" y="2609552"/>
            <a:ext cx="45272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Ecosystem (2026 Q4-2027 Q2)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3851" y="2895302"/>
            <a:ext cx="4438501" cy="5048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Passport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Cross-chain identity aggregating all voting history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$VOTE Token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Points convert to governance token (Solana phone model)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Score used for DeFi protocol airdrops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743027"/>
            <a:ext cx="8128099" cy="1133475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89542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6341" y="41081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23851" y="3895427"/>
            <a:ext cx="39461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Protocol (2027 Q3-2028)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23851" y="4181177"/>
            <a:ext cx="3868787" cy="5048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MAU, default governance infrastructure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Credit</a:t>
            </a:r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High-score users get uncollateralized loans</a:t>
            </a:r>
            <a:endParaRPr lang="en-US" sz="10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Governance-as-a-Service API for third-party apps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086" y="554236"/>
            <a:ext cx="179691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11089" y="1585913"/>
            <a:ext cx="563225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Seed Round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35645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846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6846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Incentives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67298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08499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08499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98950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40152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0152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30603" y="2925663"/>
            <a:ext cx="1777752" cy="958751"/>
          </a:xfrm>
          <a:prstGeom prst="roundRect">
            <a:avLst>
              <a:gd name="adj" fmla="val 105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71804" y="3116163"/>
            <a:ext cx="12953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71804" y="3389114"/>
            <a:ext cx="1295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41600" y="4265414"/>
            <a:ext cx="31220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[email] | Demo: [link] | Code: [github]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VoteNow - AI-Powered Governance Layer</dc:title>
  <dc:subject>PptxGenJS Presentation</dc:subject>
  <dc:creator>VoteNow</dc:creator>
  <cp:lastModifiedBy>VoteNow</cp:lastModifiedBy>
  <cp:revision>1</cp:revision>
  <dcterms:created xsi:type="dcterms:W3CDTF">2026-02-12T08:04:22Z</dcterms:created>
  <dcterms:modified xsi:type="dcterms:W3CDTF">2026-02-12T08:04:22Z</dcterms:modified>
</cp:coreProperties>
</file>